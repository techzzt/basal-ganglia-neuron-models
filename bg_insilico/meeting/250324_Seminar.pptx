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80DC"/>
    <a:srgbClr val="A0C4FD"/>
    <a:srgbClr val="D15E55"/>
    <a:srgbClr val="4FA0D6"/>
    <a:srgbClr val="57D492"/>
    <a:srgbClr val="667C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16"/>
    <p:restoredTop sz="75101"/>
  </p:normalViewPr>
  <p:slideViewPr>
    <p:cSldViewPr snapToGrid="0">
      <p:cViewPr varScale="1">
        <p:scale>
          <a:sx n="114" d="100"/>
          <a:sy n="114" d="100"/>
        </p:scale>
        <p:origin x="20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AAC51-DBD3-8A49-8EA5-33B28D93A0B4}" type="datetimeFigureOut">
              <a:rPr lang="en-KR" smtClean="0"/>
              <a:t>3/23/25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766BD-A55A-4C40-B365-F69963B99A4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9766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dirty="0">
                    <a:solidFill>
                      <a:srgbClr val="111111"/>
                    </a:solidFill>
                    <a:effectLst/>
                    <a:latin typeface="NdjwfhAdvTTb8864ccf.B"/>
                  </a:rPr>
                  <a:t>Cortex: broadcasts a with to generate a given movement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dirty="0">
                    <a:solidFill>
                      <a:srgbClr val="111111"/>
                    </a:solidFill>
                    <a:effectLst/>
                    <a:latin typeface="NdjwfhAdvTTb8864ccf.B"/>
                  </a:rPr>
                  <a:t>Striatum: decide whether it will be implemented or not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800" dirty="0">
                  <a:solidFill>
                    <a:srgbClr val="111111"/>
                  </a:solidFill>
                  <a:effectLst/>
                  <a:latin typeface="NdjwfhAdvTTb8864ccf.B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dirty="0">
                    <a:solidFill>
                      <a:srgbClr val="111111"/>
                    </a:solidFill>
                    <a:effectLst/>
                    <a:latin typeface="NdjwfhAdvTTb8864ccf.B"/>
                  </a:rPr>
                  <a:t>Purpose: simulate the microcircuits of striatum based on detailed information on cellular properties of striatal projection neurons and </a:t>
                </a:r>
                <a:r>
                  <a:rPr lang="en-US" sz="1800" dirty="0" err="1">
                    <a:solidFill>
                      <a:srgbClr val="111111"/>
                    </a:solidFill>
                    <a:effectLst/>
                    <a:latin typeface="NdjwfhAdvTTb8864ccf.B"/>
                  </a:rPr>
                  <a:t>intereneurons</a:t>
                </a:r>
                <a:r>
                  <a:rPr lang="en-US" sz="1800" dirty="0">
                    <a:solidFill>
                      <a:srgbClr val="111111"/>
                    </a:solidFill>
                    <a:effectLst/>
                    <a:latin typeface="NdjwfhAdvTTb8864ccf.B"/>
                  </a:rPr>
                  <a:t> and their connectivity within striatum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800" dirty="0">
                  <a:solidFill>
                    <a:srgbClr val="111111"/>
                  </a:solidFill>
                  <a:effectLst/>
                  <a:latin typeface="NdjwfhAdvTTb8864ccf.B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err="1"/>
                  <a:t>dSPN</a:t>
                </a:r>
                <a:r>
                  <a:rPr lang="ko-KR" altLang="en-US" dirty="0"/>
                  <a:t>은 </a:t>
                </a:r>
                <a:r>
                  <a:rPr lang="en-US" dirty="0"/>
                  <a:t>D1R</a:t>
                </a:r>
                <a:r>
                  <a:rPr lang="ko-KR" altLang="en-US" dirty="0"/>
                  <a:t>과 물질 </a:t>
                </a:r>
                <a:r>
                  <a:rPr lang="en-US" dirty="0"/>
                  <a:t>P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발현하는 반면</a:t>
                </a:r>
                <a:r>
                  <a:rPr lang="en-US" altLang="ko-KR" dirty="0"/>
                  <a:t>, </a:t>
                </a:r>
                <a:r>
                  <a:rPr lang="en-US" dirty="0" err="1"/>
                  <a:t>iSPN</a:t>
                </a:r>
                <a:r>
                  <a:rPr lang="ko-KR" altLang="en-US" dirty="0"/>
                  <a:t>은 </a:t>
                </a:r>
                <a:r>
                  <a:rPr lang="en-US" dirty="0"/>
                  <a:t>D2R</a:t>
                </a:r>
                <a:r>
                  <a:rPr lang="ko-KR" altLang="en-US" dirty="0"/>
                  <a:t>과 </a:t>
                </a:r>
                <a:r>
                  <a:rPr lang="ko-KR" altLang="en-US" dirty="0" err="1"/>
                  <a:t>엔케팔린을</a:t>
                </a:r>
                <a:r>
                  <a:rPr lang="ko-KR" altLang="en-US" dirty="0"/>
                  <a:t> 발현</a:t>
                </a:r>
                <a:endParaRPr lang="en-K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sz="1200" i="0" dirty="0">
                    <a:latin typeface="Cambria Math" panose="02040503050406030204" pitchFamily="18" charset="0"/>
                    <a:ea typeface="NanumSquare_ac" panose="020B0600000101010101" pitchFamily="34" charset="-127"/>
                  </a:rPr>
                  <a:t>𝑢&lt;</a:t>
                </a:r>
                <a:r>
                  <a:rPr lang="en-US" altLang="ko-KR" sz="1200" b="0" i="0" dirty="0">
                    <a:latin typeface="Cambria Math" panose="02040503050406030204" pitchFamily="18" charset="0"/>
                    <a:ea typeface="NanumSquare_ac" panose="020B0600000101010101" pitchFamily="34" charset="-127"/>
                  </a:rPr>
                  <a:t>𝑢_𝑐</a:t>
                </a:r>
                <a:r>
                  <a:rPr lang="en-US" altLang="ko-KR" sz="1200" dirty="0">
                    <a:latin typeface="NanumSquare_ac" panose="020B0600000101010101" pitchFamily="34" charset="-127"/>
                    <a:ea typeface="NanumSquare_ac" panose="020B0600000101010101" pitchFamily="34" charset="-127"/>
                  </a:rPr>
                  <a:t> </a:t>
                </a:r>
                <a:r>
                  <a:rPr lang="ko-KR" altLang="en-US" sz="1200" dirty="0">
                    <a:latin typeface="NanumSquare_ac" panose="020B0600000101010101" pitchFamily="34" charset="-127"/>
                    <a:ea typeface="NanumSquare_ac" panose="020B0600000101010101" pitchFamily="34" charset="-127"/>
                  </a:rPr>
                  <a:t>일 때 활동 전위 발생 </a:t>
                </a:r>
                <a:r>
                  <a:rPr lang="en-US" altLang="ko-KR" sz="1200" dirty="0">
                    <a:latin typeface="NanumSquare_ac" panose="020B0600000101010101" pitchFamily="34" charset="-127"/>
                    <a:ea typeface="NanumSquare_ac" panose="020B0600000101010101" pitchFamily="34" charset="-127"/>
                  </a:rPr>
                  <a:t>(</a:t>
                </a:r>
                <a:r>
                  <a:rPr lang="en-US" altLang="ko-KR" dirty="0" err="1"/>
                  <a:t>u_c</a:t>
                </a:r>
                <a:r>
                  <a:rPr lang="ko-KR" altLang="en-US" dirty="0"/>
                  <a:t>는 짧은 전류 펄스에 의한 스파이크 시작을 위한 임계 전압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초과하면 활동 전위를 발생시킴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b="1" dirty="0" err="1"/>
                  <a:t>u_rest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세포가 활동하지 않는 상태일 때의 휴지 전위</a:t>
                </a:r>
                <a:endParaRPr lang="en-US" altLang="ko-KR" dirty="0"/>
              </a:p>
              <a:p>
                <a:r>
                  <a:rPr lang="en-US" dirty="0"/>
                  <a:t>I: </a:t>
                </a:r>
                <a:r>
                  <a:rPr lang="ko-KR" altLang="en-US" dirty="0"/>
                  <a:t>외부 전류 </a:t>
                </a:r>
                <a:endParaRPr lang="en-US" altLang="ko-KR" dirty="0"/>
              </a:p>
              <a:p>
                <a:r>
                  <a:rPr lang="ko-KR" altLang="en-US" dirty="0"/>
                  <a:t>알파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k</a:t>
                </a:r>
                <a:r>
                  <a:rPr lang="ko-KR" altLang="en-US" dirty="0"/>
                  <a:t> 모두 적응을 조절하는 매개변수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자극에 대한 민감도를 감소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r>
                  <a:rPr lang="en-US" altLang="ko-KR" dirty="0"/>
                  <a:t>-</a:t>
                </a:r>
                <a:r>
                  <a:rPr lang="ko-KR" altLang="en-US" dirty="0"/>
                  <a:t> 값이 클수록 적응 속도가 </a:t>
                </a:r>
                <a:r>
                  <a:rPr lang="ko-KR" altLang="en-US" dirty="0" err="1"/>
                  <a:t>빨라짐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너무 크면 반응하지 않음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-</a:t>
                </a:r>
                <a:r>
                  <a:rPr lang="ko-KR" altLang="en-US" dirty="0"/>
                  <a:t> 외부 전류 </a:t>
                </a:r>
                <a:r>
                  <a:rPr lang="en-US" altLang="ko-KR" dirty="0"/>
                  <a:t>(I)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이고 세포막 전압 </a:t>
                </a:r>
                <a:r>
                  <a:rPr lang="en-US" altLang="ko-KR" dirty="0"/>
                  <a:t>(v)</a:t>
                </a:r>
                <a:r>
                  <a:rPr lang="ko-KR" altLang="en-US" dirty="0"/>
                  <a:t>이 임계 전압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v_th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보다 작을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전압은 휴지 전압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u_rest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까지 감소</a:t>
                </a:r>
                <a:endParaRPr lang="en-US" altLang="ko-KR" dirty="0"/>
              </a:p>
              <a:p>
                <a:endParaRPr lang="en-KR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594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4A0B-7955-BCEE-B490-D072AEF1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C7DA3-181E-D561-52C4-D046031F4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E94DEBD-35AB-9554-38BA-F8987FDC515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https://</a:t>
                </a:r>
                <a:r>
                  <a:rPr lang="en-US" dirty="0" err="1"/>
                  <a:t>github.com</a:t>
                </a:r>
                <a:r>
                  <a:rPr lang="en-US" dirty="0"/>
                  <a:t>/</a:t>
                </a:r>
                <a:r>
                  <a:rPr lang="en-US" dirty="0" err="1"/>
                  <a:t>zfountas</a:t>
                </a:r>
                <a:r>
                  <a:rPr lang="en-US" dirty="0"/>
                  <a:t>/basal-ganglia-model/blob/master/</a:t>
                </a:r>
                <a:r>
                  <a:rPr lang="en-US" dirty="0" err="1"/>
                  <a:t>bg_model</a:t>
                </a:r>
                <a:r>
                  <a:rPr lang="en-US" dirty="0"/>
                  <a:t>/</a:t>
                </a:r>
                <a:r>
                  <a:rPr lang="en-US" dirty="0" err="1"/>
                  <a:t>simulation_parameters.py</a:t>
                </a:r>
                <a:endParaRPr lang="en-K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sz="1200" i="0" dirty="0">
                    <a:latin typeface="Cambria Math" panose="02040503050406030204" pitchFamily="18" charset="0"/>
                    <a:ea typeface="NanumSquare_ac" panose="020B0600000101010101" pitchFamily="34" charset="-127"/>
                  </a:rPr>
                  <a:t>𝑢&lt;</a:t>
                </a:r>
                <a:r>
                  <a:rPr lang="en-US" altLang="ko-KR" sz="1200" b="0" i="0" dirty="0">
                    <a:latin typeface="Cambria Math" panose="02040503050406030204" pitchFamily="18" charset="0"/>
                    <a:ea typeface="NanumSquare_ac" panose="020B0600000101010101" pitchFamily="34" charset="-127"/>
                  </a:rPr>
                  <a:t>𝑢_𝑐</a:t>
                </a:r>
                <a:r>
                  <a:rPr lang="en-US" altLang="ko-KR" sz="1200" dirty="0">
                    <a:latin typeface="NanumSquare_ac" panose="020B0600000101010101" pitchFamily="34" charset="-127"/>
                    <a:ea typeface="NanumSquare_ac" panose="020B0600000101010101" pitchFamily="34" charset="-127"/>
                  </a:rPr>
                  <a:t> </a:t>
                </a:r>
                <a:r>
                  <a:rPr lang="ko-KR" altLang="en-US" sz="1200" dirty="0">
                    <a:latin typeface="NanumSquare_ac" panose="020B0600000101010101" pitchFamily="34" charset="-127"/>
                    <a:ea typeface="NanumSquare_ac" panose="020B0600000101010101" pitchFamily="34" charset="-127"/>
                  </a:rPr>
                  <a:t>일 때 활동 전위 발생 </a:t>
                </a:r>
                <a:r>
                  <a:rPr lang="en-US" altLang="ko-KR" sz="1200" dirty="0">
                    <a:latin typeface="NanumSquare_ac" panose="020B0600000101010101" pitchFamily="34" charset="-127"/>
                    <a:ea typeface="NanumSquare_ac" panose="020B0600000101010101" pitchFamily="34" charset="-127"/>
                  </a:rPr>
                  <a:t>(</a:t>
                </a:r>
                <a:r>
                  <a:rPr lang="en-US" altLang="ko-KR" dirty="0" err="1"/>
                  <a:t>u_c</a:t>
                </a:r>
                <a:r>
                  <a:rPr lang="ko-KR" altLang="en-US" dirty="0"/>
                  <a:t>는 짧은 전류 펄스에 의한 스파이크 시작을 위한 임계 전압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초과하면 활동 전위를 발생시킴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b="1" dirty="0" err="1"/>
                  <a:t>u_rest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세포가 활동하지 않는 상태일 때의 휴지 전위</a:t>
                </a:r>
                <a:endParaRPr lang="en-US" altLang="ko-KR" dirty="0"/>
              </a:p>
              <a:p>
                <a:r>
                  <a:rPr lang="en-US" dirty="0"/>
                  <a:t>I: </a:t>
                </a:r>
                <a:r>
                  <a:rPr lang="ko-KR" altLang="en-US" dirty="0"/>
                  <a:t>외부 전류 </a:t>
                </a:r>
                <a:endParaRPr lang="en-US" altLang="ko-KR" dirty="0"/>
              </a:p>
              <a:p>
                <a:r>
                  <a:rPr lang="ko-KR" altLang="en-US" dirty="0"/>
                  <a:t>알파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k</a:t>
                </a:r>
                <a:r>
                  <a:rPr lang="ko-KR" altLang="en-US" dirty="0"/>
                  <a:t> 모두 적응을 조절하는 매개변수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자극에 대한 민감도를 감소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r>
                  <a:rPr lang="en-US" altLang="ko-KR" dirty="0"/>
                  <a:t>-</a:t>
                </a:r>
                <a:r>
                  <a:rPr lang="ko-KR" altLang="en-US" dirty="0"/>
                  <a:t> 값이 클수록 적응 속도가 </a:t>
                </a:r>
                <a:r>
                  <a:rPr lang="ko-KR" altLang="en-US" dirty="0" err="1"/>
                  <a:t>빨라짐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너무 크면 반응하지 않음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-</a:t>
                </a:r>
                <a:r>
                  <a:rPr lang="ko-KR" altLang="en-US" dirty="0"/>
                  <a:t> 외부 전류 </a:t>
                </a:r>
                <a:r>
                  <a:rPr lang="en-US" altLang="ko-KR" dirty="0"/>
                  <a:t>(I)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이고 세포막 전압 </a:t>
                </a:r>
                <a:r>
                  <a:rPr lang="en-US" altLang="ko-KR" dirty="0"/>
                  <a:t>(v)</a:t>
                </a:r>
                <a:r>
                  <a:rPr lang="ko-KR" altLang="en-US" dirty="0"/>
                  <a:t>이 임계 전압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v_th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보다 작을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전압은 휴지 전압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u_rest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까지 감소</a:t>
                </a:r>
                <a:endParaRPr lang="en-US" altLang="ko-KR" dirty="0"/>
              </a:p>
              <a:p>
                <a:endParaRPr lang="en-KR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BE51C-B583-C87E-E773-2E0D4B0FF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4311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1E03-576C-4D8B-10D7-611BB28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9F122-6B90-81DD-9DA8-E6382842A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6A63B-329B-90BD-9800-CD5F0D98D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zfountas</a:t>
            </a:r>
            <a:r>
              <a:rPr lang="en-US" dirty="0"/>
              <a:t>/basal-ganglia-model/blob/master/</a:t>
            </a:r>
            <a:r>
              <a:rPr lang="en-US" dirty="0" err="1"/>
              <a:t>bg_model</a:t>
            </a:r>
            <a:r>
              <a:rPr lang="en-US" dirty="0"/>
              <a:t>/</a:t>
            </a:r>
            <a:r>
              <a:rPr lang="en-US" dirty="0" err="1"/>
              <a:t>simulation_parameters.py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F37C6-4F47-BAB2-A4AF-33194E45A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61157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D6669-9EAB-1DCC-1EC6-106C49B3E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973BE-E33B-7048-137A-3E4B718CB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1D3C0-86EB-126F-EE76-600A53AF9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zfountas</a:t>
            </a:r>
            <a:r>
              <a:rPr lang="en-US" dirty="0"/>
              <a:t>/basal-ganglia-model/blob/master/</a:t>
            </a:r>
            <a:r>
              <a:rPr lang="en-US" dirty="0" err="1"/>
              <a:t>bg_model</a:t>
            </a:r>
            <a:r>
              <a:rPr lang="en-US" dirty="0"/>
              <a:t>/</a:t>
            </a:r>
            <a:r>
              <a:rPr lang="en-US" dirty="0" err="1"/>
              <a:t>simulation_parameters.py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DE2BB-D2B8-04F8-DDEA-A9EAB5BC1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17488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FAC14-3F9E-E7EA-89A1-5AE31C74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F47DF-F78E-ABE9-F131-1DA5E0D32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C38F4-6D96-6C1E-776B-19FC14930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zfountas</a:t>
            </a:r>
            <a:r>
              <a:rPr lang="en-US" dirty="0"/>
              <a:t>/basal-ganglia-model/blob/master/</a:t>
            </a:r>
            <a:r>
              <a:rPr lang="en-US" dirty="0" err="1"/>
              <a:t>bg_model</a:t>
            </a:r>
            <a:r>
              <a:rPr lang="en-US" dirty="0"/>
              <a:t>/</a:t>
            </a:r>
            <a:r>
              <a:rPr lang="en-US" dirty="0" err="1"/>
              <a:t>simulation_parameters.py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001D9-EB5A-4DFE-EB5F-8BD3E911F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09769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172D-98DD-C097-CEF2-DB373BDA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A0B0B-D21B-76F7-E21C-750D43DBD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314B2-6237-B091-73A7-AF55D63E4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zfountas</a:t>
            </a:r>
            <a:r>
              <a:rPr lang="en-US" dirty="0"/>
              <a:t>/basal-ganglia-model/blob/master/</a:t>
            </a:r>
            <a:r>
              <a:rPr lang="en-US" dirty="0" err="1"/>
              <a:t>bg_model</a:t>
            </a:r>
            <a:r>
              <a:rPr lang="en-US" dirty="0"/>
              <a:t>/</a:t>
            </a:r>
            <a:r>
              <a:rPr lang="en-US" dirty="0" err="1"/>
              <a:t>simulation_parameters.py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1A3A5-CC83-B858-0AAB-74533BB72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0016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8DFF6-DE82-1804-26A0-50B5CEE8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5CEAE-539F-A9EB-2520-F0CDDED09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0C050-005B-1A96-9006-7197341B2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zfountas</a:t>
            </a:r>
            <a:r>
              <a:rPr lang="en-US" dirty="0"/>
              <a:t>/basal-ganglia-model/blob/master/</a:t>
            </a:r>
            <a:r>
              <a:rPr lang="en-US" dirty="0" err="1"/>
              <a:t>bg_model</a:t>
            </a:r>
            <a:r>
              <a:rPr lang="en-US" dirty="0"/>
              <a:t>/</a:t>
            </a:r>
            <a:r>
              <a:rPr lang="en-US" dirty="0" err="1"/>
              <a:t>simulation_parameters.py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31E9E-B9FD-B358-9456-CEE6C5C68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42600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054FA-AE95-6EE7-B784-0C7EA140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052AA-528E-FE3B-EDF8-E27564147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5D822-F63D-7BAC-6CDF-811DBD1C3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zfountas</a:t>
            </a:r>
            <a:r>
              <a:rPr lang="en-US" dirty="0"/>
              <a:t>/basal-ganglia-model/blob/master/</a:t>
            </a:r>
            <a:r>
              <a:rPr lang="en-US" dirty="0" err="1"/>
              <a:t>bg_model</a:t>
            </a:r>
            <a:r>
              <a:rPr lang="en-US" dirty="0"/>
              <a:t>/</a:t>
            </a:r>
            <a:r>
              <a:rPr lang="en-US" dirty="0" err="1"/>
              <a:t>simulation_parameters.py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719E1-EA93-732E-C16A-35F62C84C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60919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4CF9C-6B07-25C0-761B-474389A89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73658-FA7E-B747-B1A8-55343F90B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6F4D5-36BB-9AB7-2273-6C2F10D34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zfountas</a:t>
            </a:r>
            <a:r>
              <a:rPr lang="en-US" dirty="0"/>
              <a:t>/basal-ganglia-model/blob/master/</a:t>
            </a:r>
            <a:r>
              <a:rPr lang="en-US" dirty="0" err="1"/>
              <a:t>bg_model</a:t>
            </a:r>
            <a:r>
              <a:rPr lang="en-US" dirty="0"/>
              <a:t>/</a:t>
            </a:r>
            <a:r>
              <a:rPr lang="en-US" dirty="0" err="1"/>
              <a:t>simulation_parameters.py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63821-DB13-E698-37D9-BD13C7E02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28233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BB2D9-53D8-8B57-F06E-D958000D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4EBA3-EF8E-B262-40A8-BBBB5CA6E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19724-EDC1-8C4C-96FB-0AF1D24B2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zfountas</a:t>
            </a:r>
            <a:r>
              <a:rPr lang="en-US" dirty="0"/>
              <a:t>/basal-ganglia-model/blob/master/</a:t>
            </a:r>
            <a:r>
              <a:rPr lang="en-US" dirty="0" err="1"/>
              <a:t>bg_model</a:t>
            </a:r>
            <a:r>
              <a:rPr lang="en-US" dirty="0"/>
              <a:t>/</a:t>
            </a:r>
            <a:r>
              <a:rPr lang="en-US" dirty="0" err="1"/>
              <a:t>simulation_parameters.py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B2F8F-1D9A-8E98-C5D3-37283CB63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10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80843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77C9A-0348-CA0E-1527-82AF25D1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DCDF2-DDDB-5EEB-5865-0CF6D8B52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0096C-5803-FB23-25E6-1D8D09155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err="1">
                <a:effectLst/>
                <a:latin typeface="Helvetica Neue" panose="02000503000000020004" pitchFamily="2" charset="0"/>
              </a:rPr>
              <a:t>Stn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U1, u2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 나눠서 수정 필요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?</a:t>
            </a:r>
          </a:p>
          <a:p>
            <a:pPr>
              <a:buNone/>
            </a:pPr>
            <a:br>
              <a:rPr lang="en-US" altLang="ko-KR" dirty="0">
                <a:effectLst/>
                <a:latin typeface="Helvetica Neue" panose="02000503000000020004" pitchFamily="2" charset="0"/>
              </a:rPr>
            </a:br>
            <a:endParaRPr lang="en-US" altLang="ko-KR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altLang="ko-KR" dirty="0">
                <a:effectLst/>
                <a:latin typeface="Helvetica Neue" panose="02000503000000020004" pitchFamily="2" charset="0"/>
              </a:rPr>
              <a:t>        </a:t>
            </a:r>
            <a:r>
              <a:rPr lang="en-US" dirty="0">
                <a:effectLst/>
                <a:latin typeface="Helvetica Neue" panose="02000503000000020004" pitchFamily="2" charset="0"/>
              </a:rPr>
              <a:t>du1/dt = a1*( b1*(v-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vr</a:t>
            </a:r>
            <a:r>
              <a:rPr lang="en-US" dirty="0">
                <a:effectLst/>
                <a:latin typeface="Helvetica Neue" panose="02000503000000020004" pitchFamily="2" charset="0"/>
              </a:rPr>
              <a:t>) - u1 ) : volt/second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        du2/dt = a2*( heaviside01(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b_thres</a:t>
            </a:r>
            <a:r>
              <a:rPr lang="en-US" dirty="0">
                <a:effectLst/>
                <a:latin typeface="Helvetica Neue" panose="02000503000000020004" pitchFamily="2" charset="0"/>
              </a:rPr>
              <a:t>-v)*b2*(v-vr2) - u2 ) : volt/second</a:t>
            </a: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cortex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로부터 받는 입력이 총 입력이라면 </a:t>
            </a:r>
            <a:r>
              <a:rPr lang="en-US" dirty="0">
                <a:effectLst/>
                <a:latin typeface="Helvetica Neue" panose="02000503000000020004" pitchFamily="2" charset="0"/>
              </a:rPr>
              <a:t>N</a:t>
            </a:r>
            <a:r>
              <a:rPr lang="ko-KR" altLang="en-US" dirty="0" err="1">
                <a:effectLst/>
                <a:latin typeface="Helvetica Neue" panose="02000503000000020004" pitchFamily="2" charset="0"/>
              </a:rPr>
              <a:t>으로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 err="1">
                <a:effectLst/>
                <a:latin typeface="Helvetica Neue" panose="02000503000000020004" pitchFamily="2" charset="0"/>
              </a:rPr>
              <a:t>나눠야한다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,,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A, b</a:t>
            </a:r>
            <a:r>
              <a:rPr lang="ko-KR" altLang="en-US" dirty="0" err="1">
                <a:effectLst/>
                <a:latin typeface="Helvetica Neue" panose="02000503000000020004" pitchFamily="2" charset="0"/>
              </a:rPr>
              <a:t>를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second</a:t>
            </a:r>
            <a:r>
              <a:rPr lang="ko-KR" altLang="en-US" dirty="0" err="1">
                <a:effectLst/>
                <a:latin typeface="Helvetica Neue" panose="02000503000000020004" pitchFamily="2" charset="0"/>
              </a:rPr>
              <a:t>를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ms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 </a:t>
            </a:r>
            <a:r>
              <a:rPr lang="ko-KR" altLang="en-US" dirty="0" err="1">
                <a:effectLst/>
                <a:latin typeface="Helvetica Neue" panose="02000503000000020004" pitchFamily="2" charset="0"/>
              </a:rPr>
              <a:t>바꿔야할까</a:t>
            </a: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Lindahl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 연결 확률 수정 </a:t>
            </a: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altLang="ko-KR" dirty="0">
                <a:effectLst/>
                <a:latin typeface="Helvetica Neue" panose="02000503000000020004" pitchFamily="2" charset="0"/>
              </a:rPr>
              <a:t>1 </a:t>
            </a:r>
            <a:r>
              <a:rPr lang="en-US" dirty="0">
                <a:effectLst/>
                <a:latin typeface="Helvetica Neue" panose="02000503000000020004" pitchFamily="2" charset="0"/>
              </a:rPr>
              <a:t>input /N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effectLst/>
                <a:latin typeface="Helvetica Neue" panose="02000503000000020004" pitchFamily="2" charset="0"/>
              </a:rPr>
              <a:t>논문 파라미터</a:t>
            </a:r>
          </a:p>
          <a:p>
            <a:pPr>
              <a:buFont typeface="+mj-lt"/>
              <a:buAutoNum type="arabicPeriod"/>
            </a:pPr>
            <a:r>
              <a:rPr lang="en-US" dirty="0">
                <a:effectLst/>
                <a:latin typeface="Helvetica Neue" panose="02000503000000020004" pitchFamily="2" charset="0"/>
              </a:rPr>
              <a:t>Second -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ms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Weight, p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값 추가 수정 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On-pre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조건문 수정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(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elif</a:t>
            </a:r>
            <a:r>
              <a:rPr lang="en-US" dirty="0">
                <a:effectLst/>
                <a:latin typeface="Helvetica Neue" panose="02000503000000020004" pitchFamily="2" charset="0"/>
              </a:rPr>
              <a:t> -&gt; if)</a:t>
            </a: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Msn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popu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추가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u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추가 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weight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음수</a:t>
            </a: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W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양수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>
                <a:effectLst/>
                <a:latin typeface="Helvetica Neue" panose="02000503000000020004" pitchFamily="2" charset="0"/>
              </a:rPr>
              <a:t>v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추가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Ctx</a:t>
            </a:r>
            <a:r>
              <a:rPr lang="en-US" dirty="0">
                <a:effectLst/>
                <a:latin typeface="Helvetica Neue" panose="02000503000000020004" pitchFamily="2" charset="0"/>
              </a:rPr>
              <a:t>-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확률 수정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Fsn</a:t>
            </a:r>
            <a:r>
              <a:rPr lang="en-US" dirty="0">
                <a:effectLst/>
                <a:latin typeface="Helvetica Neue" panose="02000503000000020004" pitchFamily="2" charset="0"/>
              </a:rPr>
              <a:t> weight 1.2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 통일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Msnd1, d2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까지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1.2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 </a:t>
            </a: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Fsn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변경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MSND2_to_GPeT1, synaptic param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수정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Syn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중복 방지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Ampa</a:t>
            </a:r>
            <a:r>
              <a:rPr lang="en-US" dirty="0">
                <a:effectLst/>
                <a:latin typeface="Helvetica Neue" panose="02000503000000020004" pitchFamily="2" charset="0"/>
              </a:rPr>
              <a:t> 0.6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get_receptor_params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수정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(</a:t>
            </a:r>
            <a:r>
              <a:rPr lang="en-US" dirty="0">
                <a:effectLst/>
                <a:latin typeface="Helvetica Neue" panose="02000503000000020004" pitchFamily="2" charset="0"/>
              </a:rPr>
              <a:t>fan, son)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Ampa</a:t>
            </a:r>
            <a:r>
              <a:rPr lang="en-US" dirty="0">
                <a:effectLst/>
                <a:latin typeface="Helvetica Neue" panose="02000503000000020004" pitchFamily="2" charset="0"/>
              </a:rPr>
              <a:t> 0.1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Input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수식 수정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(</a:t>
            </a:r>
            <a:r>
              <a:rPr lang="en-US" dirty="0">
                <a:effectLst/>
                <a:latin typeface="Helvetica Neue" panose="02000503000000020004" pitchFamily="2" charset="0"/>
              </a:rPr>
              <a:t>N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단위 수정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Dt 0.1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 수정</a:t>
            </a:r>
          </a:p>
          <a:p>
            <a:pPr>
              <a:buNone/>
            </a:pPr>
            <a:r>
              <a:rPr lang="ko-KR" altLang="en-US" dirty="0" err="1">
                <a:effectLst/>
                <a:latin typeface="Helvetica Neue" panose="02000503000000020004" pitchFamily="2" charset="0"/>
              </a:rPr>
              <a:t>발화율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식 수정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get_receptor_params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나머지 수정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Weight 1.2, 0.6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Dt 0.3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 수정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Cortex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확률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0.6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4140A-B569-776F-6B50-423284F46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95373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869A-6955-E248-4D74-F8F633B82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420B4-31AD-19FE-8DE4-67C58B4C7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98CB8-207F-533E-8ED3-E9055798F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Lindahl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 연결 확률 수정 </a:t>
            </a: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altLang="ko-KR" dirty="0">
                <a:effectLst/>
                <a:latin typeface="Helvetica Neue" panose="02000503000000020004" pitchFamily="2" charset="0"/>
              </a:rPr>
              <a:t>1 </a:t>
            </a:r>
            <a:r>
              <a:rPr lang="en-US" dirty="0">
                <a:effectLst/>
                <a:latin typeface="Helvetica Neue" panose="02000503000000020004" pitchFamily="2" charset="0"/>
              </a:rPr>
              <a:t>input /N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effectLst/>
                <a:latin typeface="Helvetica Neue" panose="02000503000000020004" pitchFamily="2" charset="0"/>
              </a:rPr>
              <a:t>논문 파라미터</a:t>
            </a:r>
          </a:p>
          <a:p>
            <a:pPr>
              <a:buFont typeface="+mj-lt"/>
              <a:buAutoNum type="arabicPeriod"/>
            </a:pPr>
            <a:r>
              <a:rPr lang="en-US" dirty="0">
                <a:effectLst/>
                <a:latin typeface="Helvetica Neue" panose="02000503000000020004" pitchFamily="2" charset="0"/>
              </a:rPr>
              <a:t>Second -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ms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Weight, p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값 추가 수정 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On-pre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조건문 수정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(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elif</a:t>
            </a:r>
            <a:r>
              <a:rPr lang="en-US" dirty="0">
                <a:effectLst/>
                <a:latin typeface="Helvetica Neue" panose="02000503000000020004" pitchFamily="2" charset="0"/>
              </a:rPr>
              <a:t> -&gt; if)</a:t>
            </a: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Msn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popu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추가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u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추가 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weight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음수</a:t>
            </a: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W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양수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>
                <a:effectLst/>
                <a:latin typeface="Helvetica Neue" panose="02000503000000020004" pitchFamily="2" charset="0"/>
              </a:rPr>
              <a:t>v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추가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Ctx</a:t>
            </a:r>
            <a:r>
              <a:rPr lang="en-US" dirty="0">
                <a:effectLst/>
                <a:latin typeface="Helvetica Neue" panose="02000503000000020004" pitchFamily="2" charset="0"/>
              </a:rPr>
              <a:t>-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확률 수정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Fsn</a:t>
            </a:r>
            <a:r>
              <a:rPr lang="en-US" dirty="0">
                <a:effectLst/>
                <a:latin typeface="Helvetica Neue" panose="02000503000000020004" pitchFamily="2" charset="0"/>
              </a:rPr>
              <a:t> weight 1.2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 통일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Msnd1, d2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까지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1.2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 </a:t>
            </a:r>
          </a:p>
          <a:p>
            <a:pPr>
              <a:buNone/>
            </a:pPr>
            <a:br>
              <a:rPr lang="ko-KR" altLang="en-US" dirty="0">
                <a:effectLst/>
                <a:latin typeface="Helvetica Neue" panose="02000503000000020004" pitchFamily="2" charset="0"/>
              </a:rPr>
            </a:br>
            <a:endParaRPr lang="ko-KR" alt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Fsn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변경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MSND2_to_GPeT1, synaptic param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수정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Syn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중복 방지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Ampa</a:t>
            </a:r>
            <a:r>
              <a:rPr lang="en-US" dirty="0">
                <a:effectLst/>
                <a:latin typeface="Helvetica Neue" panose="02000503000000020004" pitchFamily="2" charset="0"/>
              </a:rPr>
              <a:t> 0.6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get_receptor_params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수정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(</a:t>
            </a:r>
            <a:r>
              <a:rPr lang="en-US" dirty="0">
                <a:effectLst/>
                <a:latin typeface="Helvetica Neue" panose="02000503000000020004" pitchFamily="2" charset="0"/>
              </a:rPr>
              <a:t>fan, son)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Ampa</a:t>
            </a:r>
            <a:r>
              <a:rPr lang="en-US" dirty="0">
                <a:effectLst/>
                <a:latin typeface="Helvetica Neue" panose="02000503000000020004" pitchFamily="2" charset="0"/>
              </a:rPr>
              <a:t> 0.1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Input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수식 수정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(</a:t>
            </a:r>
            <a:r>
              <a:rPr lang="en-US" dirty="0">
                <a:effectLst/>
                <a:latin typeface="Helvetica Neue" panose="02000503000000020004" pitchFamily="2" charset="0"/>
              </a:rPr>
              <a:t>N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단위 수정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Dt 0.1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 수정</a:t>
            </a:r>
          </a:p>
          <a:p>
            <a:pPr>
              <a:buNone/>
            </a:pPr>
            <a:r>
              <a:rPr lang="ko-KR" altLang="en-US" dirty="0" err="1">
                <a:effectLst/>
                <a:latin typeface="Helvetica Neue" panose="02000503000000020004" pitchFamily="2" charset="0"/>
              </a:rPr>
              <a:t>발화율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식 수정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get_receptor_params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나머지 수정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Weight 1.2, 0.6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Dt 0.3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로 수정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Cortex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확률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0.6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9F58A-E24E-FDD7-F822-A7460F9D1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766BD-A55A-4C40-B365-F69963B99A49}" type="slidenum">
              <a:rPr lang="en-KR" smtClean="0"/>
              <a:t>12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65925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21479-EE06-48B7-25D1-657E1651E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CD58F-2429-8D78-AD2D-8968F2D73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F5B99-C533-3226-A5BB-7FFED6F80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08C4-EF35-C4BC-F9ED-A27CCDEB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80B4B-CD62-604E-FF54-2485CC3B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96384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E64C-309E-C8AB-E119-39CAA169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07481-7850-7F53-B6EF-51CFD626C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ACD1B-FECB-7D2D-6764-BB4635AF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1EBF5-C636-C389-1C72-D3C571D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6F49C-3BB5-9485-B854-DE3C22E3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7043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7FAE9-A4F5-2B60-3790-EDD6A4FE3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A6138-24AF-AC6C-7D13-26BF22B78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1929E-31BD-E6DC-6DB2-11FBDACD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8DD94-55FE-DA53-57A9-57D58E553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EDE64-8D04-7406-0020-636A4C6D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82525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8FDDC-33C5-95E9-46CF-4B7F5838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AF4E0-D40F-A0FA-DE2C-A3FACBE69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D5412-34F2-16F2-0494-9A4ECDF00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A8C98-8D72-12BD-D930-AFDA3D314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2D511-CB9D-857F-78E5-84FA9BC2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C93B2-17BD-2098-F467-AB38D725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44721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CFDD-A9B6-E1CD-EDFE-46B3DC33C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24322-C6DF-3A75-3292-4E90BB681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C36F-A55E-07A7-4DF6-207AC71F0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1EB6D2-19FE-73F6-53BE-63A5C9BD8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71782-FC8A-62B6-A85C-CFAD4177F1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4A211-ACC0-9119-FDCF-EBF81EFB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AF0813-1483-2BB1-1C0E-10B41BBB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9C03F6-F46F-A81B-F3FE-849C9FC89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3033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1229-ABCE-F9F9-5AAE-3C3205C5B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C2DE0-2E95-9778-4968-08065BCB1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61043-5AF6-EA94-6AA1-8EF11087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C3217-6ED9-6EC8-0741-1C5610A2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1795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7579C-1BD6-3C69-1F2B-E752F0F6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E85DAE-607E-930B-5EBC-690B7A73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A91CB-67B8-7F91-6BCE-B29BE209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648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0469-1C32-BBFB-2BDE-5AD3C89B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D3CC3-C203-7D11-5564-90877AC83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FF3BB-1DE2-0D44-BE36-6FAB75AD4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8E19E-80D5-54A6-48EB-EB8BEB59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3AACF-AFD9-A7A6-53B6-DE721085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45938-EFF0-083B-1B04-08570F39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0166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C8BEC-908F-0F35-A456-7F94E1F4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287049-B62F-C1B1-46B2-BF557F0963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AC5E1-8FAE-3935-0F50-CE459E724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35560-748E-312A-30C1-3535FBBB1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F19FC-F5F3-C575-E05B-F15ECAC8E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2103D-ACEA-9F8C-7552-81AECCE6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3931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91E1D-FF38-D930-E376-677AF335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B0929-32A4-9FD2-6880-9CB68D68A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B1197-B89B-6DD4-9630-A5A7FCFB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0A1EF-B000-C6C6-3640-CB9494C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6080A-9593-BE55-B7DC-338D4E10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54964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6B02F-D5E4-B0DC-DDA9-1870B69F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E4AFF-0D1C-FDAB-9C2A-CF75D238C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4B9E9-DC34-576E-60D6-25C2FB3B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76644-5282-C549-553C-3CEC3E91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964A2-CA56-0A7C-338E-9BE625E6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4818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D4F3B6-F666-53C5-6F4E-AE08FE58A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4FDA0-E168-0980-FFEE-5CF93E385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E9CD-BF9F-6E12-2915-44A758500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1E2E2-FFBD-1B4A-A1F4-6B5783564F9D}" type="datetimeFigureOut">
              <a:rPr lang="en-KR" smtClean="0"/>
              <a:t>3/23/25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55F89-1C30-BF5C-1E62-BA60B8BE5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1A077-14F7-DF1E-FF22-ECC394C48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713B7-7F6F-4443-9096-71B832874E8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72857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651ED9E-0056-A7C5-EBC7-915AC10880F2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C47CBC9-72D9-1F35-ED1E-23D9C19561FC}"/>
              </a:ext>
            </a:extLst>
          </p:cNvPr>
          <p:cNvSpPr txBox="1"/>
          <p:nvPr/>
        </p:nvSpPr>
        <p:spPr>
          <a:xfrm>
            <a:off x="259666" y="90140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Poisson input</a:t>
            </a:r>
            <a:r>
              <a:rPr lang="ko-KR" altLang="en-US" dirty="0"/>
              <a:t>을 연결된 뉴런 개수를 고려하여 뉴런 셀이 받는 총 </a:t>
            </a:r>
            <a:r>
              <a:rPr lang="en-US" altLang="ko-KR" dirty="0"/>
              <a:t>input</a:t>
            </a:r>
            <a:r>
              <a:rPr lang="ko-KR" altLang="en-US" dirty="0"/>
              <a:t>을 논문에서 제시한 파라미터로 사용  </a:t>
            </a:r>
            <a:endParaRPr lang="en-KR" dirty="0"/>
          </a:p>
          <a:p>
            <a:endParaRPr lang="en-KR" dirty="0"/>
          </a:p>
          <a:p>
            <a:r>
              <a:rPr lang="en-KR" dirty="0"/>
              <a:t>FSN 평균 발화율: 4.29 Hz</a:t>
            </a:r>
          </a:p>
          <a:p>
            <a:r>
              <a:rPr lang="en-KR" dirty="0"/>
              <a:t>MSND1 평균 발화율: 9148.90 Hz</a:t>
            </a:r>
          </a:p>
          <a:p>
            <a:r>
              <a:rPr lang="en-KR" dirty="0"/>
              <a:t>MSND2 평균 발화율: 9144.00 Hz</a:t>
            </a:r>
          </a:p>
          <a:p>
            <a:r>
              <a:rPr lang="en-KR" dirty="0"/>
              <a:t>STN 평균 발화율: 20.28 Hz</a:t>
            </a:r>
          </a:p>
          <a:p>
            <a:r>
              <a:rPr lang="en-KR" dirty="0"/>
              <a:t>GPeT1 평균 발화율: 4574.20 Hz</a:t>
            </a:r>
          </a:p>
          <a:p>
            <a:r>
              <a:rPr lang="en-KR" dirty="0"/>
              <a:t>GPeTA 평균 발화율: 9.44 Hz</a:t>
            </a:r>
          </a:p>
        </p:txBody>
      </p:sp>
      <p:pic>
        <p:nvPicPr>
          <p:cNvPr id="12" name="Picture 11" descr="A group of blue lines with white text&#10;&#10;AI-generated content may be incorrect.">
            <a:extLst>
              <a:ext uri="{FF2B5EF4-FFF2-40B4-BE49-F238E27FC236}">
                <a16:creationId xmlns:a16="http://schemas.microsoft.com/office/drawing/2014/main" id="{B219AAC8-7413-37B8-BB70-9869052E9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666" y="0"/>
            <a:ext cx="71498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77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21F8D-A9EF-9E93-8C4C-5836D48D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25A6F20-04C2-D6E2-8864-5D14A4E4E07F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D32C4D5-0BFF-556C-9139-34A436B7D5AD}"/>
              </a:ext>
            </a:extLst>
          </p:cNvPr>
          <p:cNvSpPr txBox="1"/>
          <p:nvPr/>
        </p:nvSpPr>
        <p:spPr>
          <a:xfrm>
            <a:off x="259666" y="90140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QIF </a:t>
            </a:r>
            <a:r>
              <a:rPr lang="ko-KR" altLang="en-US" dirty="0"/>
              <a:t>단위 </a:t>
            </a:r>
            <a:r>
              <a:rPr lang="en-US" altLang="ko-KR" dirty="0"/>
              <a:t>volt/second -&gt; mV/</a:t>
            </a:r>
            <a:r>
              <a:rPr lang="en-US" altLang="ko-KR" dirty="0" err="1"/>
              <a:t>ms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Second -&gt; </a:t>
            </a:r>
            <a:r>
              <a:rPr lang="en-US" altLang="ko-KR" dirty="0" err="1"/>
              <a:t>ms</a:t>
            </a:r>
            <a:r>
              <a:rPr lang="ko-KR" altLang="en-US" dirty="0"/>
              <a:t>로 변경  </a:t>
            </a:r>
            <a:endParaRPr lang="en-KR" dirty="0"/>
          </a:p>
          <a:p>
            <a:r>
              <a:rPr lang="en-US" dirty="0"/>
              <a:t>Connection probability </a:t>
            </a:r>
            <a:r>
              <a:rPr lang="en-US" dirty="0">
                <a:effectLst/>
                <a:latin typeface="Helvetica Neue" panose="02000503000000020004" pitchFamily="2" charset="0"/>
              </a:rPr>
              <a:t>Lindahl</a:t>
            </a:r>
            <a:r>
              <a:rPr lang="en-KR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논문 참고해 수정 </a:t>
            </a:r>
            <a:endParaRPr 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96C7BF-F317-10D3-6F7C-197CFF15AC0C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DAE604-7E48-1D4D-379C-5A4E49C7A6DB}"/>
              </a:ext>
            </a:extLst>
          </p:cNvPr>
          <p:cNvSpPr txBox="1"/>
          <p:nvPr/>
        </p:nvSpPr>
        <p:spPr>
          <a:xfrm>
            <a:off x="0" y="6291961"/>
            <a:ext cx="120543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buNone/>
            </a:pPr>
            <a:r>
              <a:rPr lang="en-US" sz="1400" dirty="0">
                <a:effectLst/>
                <a:latin typeface="Arial" panose="020B0604020202020204" pitchFamily="34" charset="0"/>
              </a:rPr>
              <a:t>Lindahl, Mikael, et al. "Signal enhancement in the output stage of the basal ganglia by synaptic short-term plasticity in the direct, indirect, and </a:t>
            </a:r>
            <a:r>
              <a:rPr lang="en-US" sz="1400" dirty="0" err="1">
                <a:effectLst/>
                <a:latin typeface="Arial" panose="020B0604020202020204" pitchFamily="34" charset="0"/>
              </a:rPr>
              <a:t>hyperdirect</a:t>
            </a:r>
            <a:r>
              <a:rPr lang="en-US" sz="1400" dirty="0">
                <a:effectLst/>
                <a:latin typeface="Arial" panose="020B0604020202020204" pitchFamily="34" charset="0"/>
              </a:rPr>
              <a:t> pathways." </a:t>
            </a:r>
            <a:r>
              <a:rPr lang="en-US" sz="1400" i="1" dirty="0">
                <a:effectLst/>
                <a:latin typeface="Arial" panose="020B0604020202020204" pitchFamily="34" charset="0"/>
              </a:rPr>
              <a:t>Frontiers in computational neuroscience</a:t>
            </a:r>
            <a:r>
              <a:rPr lang="en-US" sz="1400" dirty="0">
                <a:effectLst/>
                <a:latin typeface="Arial" panose="020B0604020202020204" pitchFamily="34" charset="0"/>
              </a:rPr>
              <a:t> 7 (2013</a:t>
            </a:r>
            <a:r>
              <a:rPr lang="en-US" sz="1400" dirty="0">
                <a:latin typeface="Arial" panose="020B0604020202020204" pitchFamily="34" charset="0"/>
              </a:rPr>
              <a:t>)</a:t>
            </a:r>
            <a:br>
              <a:rPr lang="en-US" sz="1400" dirty="0"/>
            </a:br>
            <a:endParaRPr lang="en-K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13180A-3015-F9C8-7091-6FD8A9411E29}"/>
              </a:ext>
            </a:extLst>
          </p:cNvPr>
          <p:cNvSpPr txBox="1"/>
          <p:nvPr/>
        </p:nvSpPr>
        <p:spPr>
          <a:xfrm>
            <a:off x="259666" y="3955392"/>
            <a:ext cx="61058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dirty="0"/>
              <a:t>FSN 평균 발화율: 8.31 Hz</a:t>
            </a:r>
          </a:p>
          <a:p>
            <a:r>
              <a:rPr lang="en-KR" dirty="0"/>
              <a:t>MSND1 평균 발화율: 9224.17 Hz</a:t>
            </a:r>
          </a:p>
          <a:p>
            <a:r>
              <a:rPr lang="en-KR" dirty="0"/>
              <a:t>MSND2 평균 발화율: 9217.90 Hz</a:t>
            </a:r>
          </a:p>
          <a:p>
            <a:r>
              <a:rPr lang="en-KR" dirty="0"/>
              <a:t>STN 평균 발화율: 19.61 Hz</a:t>
            </a:r>
          </a:p>
          <a:p>
            <a:r>
              <a:rPr lang="en-KR" dirty="0"/>
              <a:t>GPeT1 평균 발화율: 4575.96 Hz</a:t>
            </a:r>
          </a:p>
          <a:p>
            <a:r>
              <a:rPr lang="en-KR" dirty="0"/>
              <a:t>GPeTA 평균 발화율: 296.45 Hz</a:t>
            </a:r>
          </a:p>
        </p:txBody>
      </p:sp>
      <p:pic>
        <p:nvPicPr>
          <p:cNvPr id="15" name="Picture 14" descr="A chart of a graph&#10;&#10;AI-generated content may be incorrect.">
            <a:extLst>
              <a:ext uri="{FF2B5EF4-FFF2-40B4-BE49-F238E27FC236}">
                <a16:creationId xmlns:a16="http://schemas.microsoft.com/office/drawing/2014/main" id="{895115D5-6FC2-0D85-FFE4-B73BDD873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761" y="635954"/>
            <a:ext cx="3652684" cy="547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8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12B97-3686-061C-5983-14282910F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2A04C62-E5A5-2076-9480-87D5A19D60CB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18EB34-3F18-2805-36B3-46894EA01A29}"/>
              </a:ext>
            </a:extLst>
          </p:cNvPr>
          <p:cNvSpPr txBox="1"/>
          <p:nvPr/>
        </p:nvSpPr>
        <p:spPr>
          <a:xfrm>
            <a:off x="259666" y="9014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Weight, p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값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추가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수정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70E65-1827-C62E-B6A5-5EB982A25AC2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2E7A15-9456-3020-21F3-75D2BE6BE314}"/>
              </a:ext>
            </a:extLst>
          </p:cNvPr>
          <p:cNvSpPr txBox="1"/>
          <p:nvPr/>
        </p:nvSpPr>
        <p:spPr>
          <a:xfrm>
            <a:off x="259666" y="3955392"/>
            <a:ext cx="61058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FSN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6.06 </a:t>
            </a:r>
            <a:r>
              <a:rPr lang="en-US" dirty="0"/>
              <a:t>Hz</a:t>
            </a:r>
          </a:p>
          <a:p>
            <a:r>
              <a:rPr lang="en-US" dirty="0"/>
              <a:t>MSND1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9100.21 </a:t>
            </a:r>
            <a:r>
              <a:rPr lang="en-US" dirty="0"/>
              <a:t>Hz</a:t>
            </a:r>
          </a:p>
          <a:p>
            <a:r>
              <a:rPr lang="en-US" dirty="0"/>
              <a:t>MSND2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9097.53 </a:t>
            </a:r>
            <a:r>
              <a:rPr lang="en-US" dirty="0"/>
              <a:t>Hz</a:t>
            </a:r>
          </a:p>
          <a:p>
            <a:r>
              <a:rPr lang="en-US" dirty="0"/>
              <a:t>STN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17.83 </a:t>
            </a:r>
            <a:r>
              <a:rPr lang="en-US" dirty="0"/>
              <a:t>Hz</a:t>
            </a:r>
          </a:p>
          <a:p>
            <a:r>
              <a:rPr lang="en-US" dirty="0"/>
              <a:t>GPeT1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4500.44 </a:t>
            </a:r>
            <a:r>
              <a:rPr lang="en-US" dirty="0"/>
              <a:t>Hz</a:t>
            </a:r>
          </a:p>
          <a:p>
            <a:r>
              <a:rPr lang="en-US" dirty="0" err="1"/>
              <a:t>GPeTA</a:t>
            </a:r>
            <a:r>
              <a:rPr lang="en-US" dirty="0"/>
              <a:t>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511.76 </a:t>
            </a:r>
            <a:r>
              <a:rPr lang="en-US" dirty="0"/>
              <a:t>Hz</a:t>
            </a:r>
            <a:endParaRPr lang="en-KR" dirty="0"/>
          </a:p>
        </p:txBody>
      </p:sp>
      <p:pic>
        <p:nvPicPr>
          <p:cNvPr id="5" name="Picture 4" descr="A blue and white graph&#10;&#10;AI-generated content may be incorrect.">
            <a:extLst>
              <a:ext uri="{FF2B5EF4-FFF2-40B4-BE49-F238E27FC236}">
                <a16:creationId xmlns:a16="http://schemas.microsoft.com/office/drawing/2014/main" id="{1B9564A0-C422-5922-2B46-BCC19C91E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193" y="832529"/>
            <a:ext cx="10099273" cy="496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42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A96B2-B297-AE53-9C96-C9C35654A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8D2BDE-2446-F98D-2666-D3F831E33C45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FBC241F-DB4A-879C-7873-F5B4B53150C1}"/>
              </a:ext>
            </a:extLst>
          </p:cNvPr>
          <p:cNvSpPr txBox="1"/>
          <p:nvPr/>
        </p:nvSpPr>
        <p:spPr>
          <a:xfrm>
            <a:off x="259666" y="9014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Weight, p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값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추가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수정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E033D3-A4B2-B378-2DC3-93559FEF73AE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982F5-4981-12FE-ABA6-922E8E18A7AD}"/>
              </a:ext>
            </a:extLst>
          </p:cNvPr>
          <p:cNvSpPr txBox="1"/>
          <p:nvPr/>
        </p:nvSpPr>
        <p:spPr>
          <a:xfrm>
            <a:off x="259666" y="3955392"/>
            <a:ext cx="61058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FSN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6.06 </a:t>
            </a:r>
            <a:r>
              <a:rPr lang="en-US" dirty="0"/>
              <a:t>Hz</a:t>
            </a:r>
          </a:p>
          <a:p>
            <a:r>
              <a:rPr lang="en-US" dirty="0"/>
              <a:t>MSND1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9100.21 </a:t>
            </a:r>
            <a:r>
              <a:rPr lang="en-US" dirty="0"/>
              <a:t>Hz</a:t>
            </a:r>
          </a:p>
          <a:p>
            <a:r>
              <a:rPr lang="en-US" dirty="0"/>
              <a:t>MSND2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9097.53 </a:t>
            </a:r>
            <a:r>
              <a:rPr lang="en-US" dirty="0"/>
              <a:t>Hz</a:t>
            </a:r>
          </a:p>
          <a:p>
            <a:r>
              <a:rPr lang="en-US" dirty="0"/>
              <a:t>STN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17.83 </a:t>
            </a:r>
            <a:r>
              <a:rPr lang="en-US" dirty="0"/>
              <a:t>Hz</a:t>
            </a:r>
          </a:p>
          <a:p>
            <a:r>
              <a:rPr lang="en-US" dirty="0"/>
              <a:t>GPeT1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4500.44 </a:t>
            </a:r>
            <a:r>
              <a:rPr lang="en-US" dirty="0"/>
              <a:t>Hz</a:t>
            </a:r>
          </a:p>
          <a:p>
            <a:r>
              <a:rPr lang="en-US" dirty="0" err="1"/>
              <a:t>GPeTA</a:t>
            </a:r>
            <a:r>
              <a:rPr lang="en-US" dirty="0"/>
              <a:t>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511.76 </a:t>
            </a:r>
            <a:r>
              <a:rPr lang="en-US" dirty="0"/>
              <a:t>Hz</a:t>
            </a:r>
            <a:endParaRPr lang="en-KR" dirty="0"/>
          </a:p>
        </p:txBody>
      </p:sp>
      <p:pic>
        <p:nvPicPr>
          <p:cNvPr id="6" name="Picture 5" descr="A graph of data on a white background&#10;&#10;AI-generated content may be incorrect.">
            <a:extLst>
              <a:ext uri="{FF2B5EF4-FFF2-40B4-BE49-F238E27FC236}">
                <a16:creationId xmlns:a16="http://schemas.microsoft.com/office/drawing/2014/main" id="{6AF5A1F3-DCCB-D791-8E32-FF728FAB7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701" y="89229"/>
            <a:ext cx="7772400" cy="66795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C0E3F0-4C37-44C0-28A2-757E779E2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368739"/>
            <a:ext cx="7772400" cy="412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42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D86D-1B2E-023C-8D97-F2D6C39B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018AE14-484C-BF08-059D-16F89A5E381E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E19A3F4-9F11-4418-D7D4-CBA8B6A1A19E}"/>
              </a:ext>
            </a:extLst>
          </p:cNvPr>
          <p:cNvSpPr txBox="1"/>
          <p:nvPr/>
        </p:nvSpPr>
        <p:spPr>
          <a:xfrm>
            <a:off x="259666" y="9014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Weight, p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값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추가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수정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6D789-9CDC-DB83-A9CA-A47BF8181C8B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6FE7A-287B-945C-FE1D-94634ADBB61D}"/>
              </a:ext>
            </a:extLst>
          </p:cNvPr>
          <p:cNvSpPr txBox="1"/>
          <p:nvPr/>
        </p:nvSpPr>
        <p:spPr>
          <a:xfrm>
            <a:off x="-147484" y="35276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dirty="0"/>
              <a:t>FSN 평균 발화율: 5.25 Hz</a:t>
            </a:r>
          </a:p>
          <a:p>
            <a:r>
              <a:rPr lang="en-KR" dirty="0"/>
              <a:t>MSND1 평균 발화율: 9226.43 Hz</a:t>
            </a:r>
          </a:p>
          <a:p>
            <a:r>
              <a:rPr lang="en-KR" dirty="0"/>
              <a:t>MSND2 평균 발화율: 9224.88 Hz</a:t>
            </a:r>
          </a:p>
          <a:p>
            <a:r>
              <a:rPr lang="en-KR" dirty="0"/>
              <a:t>STN 평균 발화율: 160.92 Hz</a:t>
            </a:r>
          </a:p>
          <a:p>
            <a:r>
              <a:rPr lang="en-KR" dirty="0"/>
              <a:t>GPeT1 평균 발화율: 4161.35 Hz</a:t>
            </a:r>
          </a:p>
          <a:p>
            <a:r>
              <a:rPr lang="en-KR" dirty="0"/>
              <a:t>GPeTA 평균 발화율: 6.16 Hz</a:t>
            </a:r>
          </a:p>
        </p:txBody>
      </p:sp>
      <p:pic>
        <p:nvPicPr>
          <p:cNvPr id="9" name="Picture 8" descr="A group of blue and white lines&#10;&#10;AI-generated content may be incorrect.">
            <a:extLst>
              <a:ext uri="{FF2B5EF4-FFF2-40B4-BE49-F238E27FC236}">
                <a16:creationId xmlns:a16="http://schemas.microsoft.com/office/drawing/2014/main" id="{4BE689E8-4247-791B-DCD6-D79D4DDB9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208" y="743020"/>
            <a:ext cx="7772400" cy="551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90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5F7FD-C55F-0710-CA05-50816C7D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01B00C-3131-D6D4-05A6-AEFD66125DA5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68FC62-9D33-EAB5-89B5-A985FC06F919}"/>
              </a:ext>
            </a:extLst>
          </p:cNvPr>
          <p:cNvSpPr txBox="1"/>
          <p:nvPr/>
        </p:nvSpPr>
        <p:spPr>
          <a:xfrm>
            <a:off x="259666" y="9014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elvetica Neue" panose="02000503000000020004" pitchFamily="2" charset="0"/>
              </a:rPr>
              <a:t>U </a:t>
            </a:r>
            <a:r>
              <a:rPr lang="ko-KR" altLang="en-US" dirty="0">
                <a:latin typeface="Helvetica Neue" panose="02000503000000020004" pitchFamily="2" charset="0"/>
              </a:rPr>
              <a:t>수식 수정</a:t>
            </a:r>
            <a:endParaRPr lang="ko-KR" alt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80BABD-251C-8D50-5C75-405BDEB8EF73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67B1B-CAC5-8888-60CB-3EA74D9B5D30}"/>
              </a:ext>
            </a:extLst>
          </p:cNvPr>
          <p:cNvSpPr txBox="1"/>
          <p:nvPr/>
        </p:nvSpPr>
        <p:spPr>
          <a:xfrm>
            <a:off x="-147484" y="35276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FSN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6.35 </a:t>
            </a:r>
            <a:r>
              <a:rPr lang="en-US" dirty="0"/>
              <a:t>Hz</a:t>
            </a:r>
          </a:p>
          <a:p>
            <a:r>
              <a:rPr lang="en-US" dirty="0"/>
              <a:t>MSND1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9458.50 </a:t>
            </a:r>
            <a:r>
              <a:rPr lang="en-US" dirty="0"/>
              <a:t>Hz</a:t>
            </a:r>
          </a:p>
          <a:p>
            <a:r>
              <a:rPr lang="en-US" dirty="0"/>
              <a:t>MSND2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9456.94 </a:t>
            </a:r>
            <a:r>
              <a:rPr lang="en-US" dirty="0"/>
              <a:t>Hz</a:t>
            </a:r>
          </a:p>
          <a:p>
            <a:r>
              <a:rPr lang="en-US" dirty="0"/>
              <a:t>STN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160.32 </a:t>
            </a:r>
            <a:r>
              <a:rPr lang="en-US" dirty="0"/>
              <a:t>Hz</a:t>
            </a:r>
          </a:p>
          <a:p>
            <a:r>
              <a:rPr lang="en-US" dirty="0"/>
              <a:t>GPeT1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4736.94 </a:t>
            </a:r>
            <a:r>
              <a:rPr lang="en-US" dirty="0"/>
              <a:t>Hz</a:t>
            </a:r>
          </a:p>
          <a:p>
            <a:r>
              <a:rPr lang="en-US" dirty="0" err="1"/>
              <a:t>GPeTA</a:t>
            </a:r>
            <a:r>
              <a:rPr lang="en-US" dirty="0"/>
              <a:t>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69.77 </a:t>
            </a:r>
            <a:r>
              <a:rPr lang="en-US" dirty="0"/>
              <a:t>Hz</a:t>
            </a:r>
            <a:endParaRPr lang="en-KR" dirty="0"/>
          </a:p>
        </p:txBody>
      </p:sp>
      <p:pic>
        <p:nvPicPr>
          <p:cNvPr id="5" name="Picture 4" descr="A blue and white graph&#10;&#10;AI-generated content may be incorrect.">
            <a:extLst>
              <a:ext uri="{FF2B5EF4-FFF2-40B4-BE49-F238E27FC236}">
                <a16:creationId xmlns:a16="http://schemas.microsoft.com/office/drawing/2014/main" id="{6A4D79D7-16F4-1F44-28EB-8A3EB8684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193" y="349771"/>
            <a:ext cx="7772400" cy="615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19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1A952-4447-5EEE-DB89-3952082D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9231B9-6A22-55B1-8308-62185222EB66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39AE156-EAB6-F728-0F83-FE1DCF1C1FE8}"/>
              </a:ext>
            </a:extLst>
          </p:cNvPr>
          <p:cNvSpPr txBox="1"/>
          <p:nvPr/>
        </p:nvSpPr>
        <p:spPr>
          <a:xfrm>
            <a:off x="259666" y="9014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elvetica Neue" panose="02000503000000020004" pitchFamily="2" charset="0"/>
              </a:rPr>
              <a:t>U </a:t>
            </a:r>
            <a:r>
              <a:rPr lang="ko-KR" altLang="en-US" dirty="0">
                <a:latin typeface="Helvetica Neue" panose="02000503000000020004" pitchFamily="2" charset="0"/>
              </a:rPr>
              <a:t>수식 수정</a:t>
            </a:r>
            <a:r>
              <a:rPr lang="en-US" altLang="ko-KR" dirty="0">
                <a:latin typeface="Helvetica Neue" panose="02000503000000020004" pitchFamily="2" charset="0"/>
              </a:rPr>
              <a:t>,</a:t>
            </a:r>
            <a:r>
              <a:rPr lang="ko-KR" altLang="en-US" dirty="0"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latin typeface="Helvetica Neue" panose="02000503000000020004" pitchFamily="2" charset="0"/>
              </a:rPr>
              <a:t>w </a:t>
            </a:r>
            <a:r>
              <a:rPr lang="ko-KR" altLang="en-US" dirty="0">
                <a:latin typeface="Helvetica Neue" panose="02000503000000020004" pitchFamily="2" charset="0"/>
              </a:rPr>
              <a:t>수정</a:t>
            </a:r>
            <a:endParaRPr lang="ko-KR" alt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96D53-7234-A3FC-A603-09E8D7F2D02F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C2C92-6CE9-7291-87DF-4FFE7F62FA52}"/>
              </a:ext>
            </a:extLst>
          </p:cNvPr>
          <p:cNvSpPr txBox="1"/>
          <p:nvPr/>
        </p:nvSpPr>
        <p:spPr>
          <a:xfrm>
            <a:off x="-147484" y="35276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FSN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6.35 </a:t>
            </a:r>
            <a:r>
              <a:rPr lang="en-US" dirty="0"/>
              <a:t>Hz</a:t>
            </a:r>
          </a:p>
          <a:p>
            <a:r>
              <a:rPr lang="en-US" dirty="0"/>
              <a:t>MSND1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9458.50 </a:t>
            </a:r>
            <a:r>
              <a:rPr lang="en-US" dirty="0"/>
              <a:t>Hz</a:t>
            </a:r>
          </a:p>
          <a:p>
            <a:r>
              <a:rPr lang="en-US" dirty="0"/>
              <a:t>MSND2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9456.94 </a:t>
            </a:r>
            <a:r>
              <a:rPr lang="en-US" dirty="0"/>
              <a:t>Hz</a:t>
            </a:r>
          </a:p>
          <a:p>
            <a:r>
              <a:rPr lang="en-US" dirty="0"/>
              <a:t>STN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160.32 </a:t>
            </a:r>
            <a:r>
              <a:rPr lang="en-US" dirty="0"/>
              <a:t>Hz</a:t>
            </a:r>
          </a:p>
          <a:p>
            <a:r>
              <a:rPr lang="en-US" dirty="0"/>
              <a:t>GPeT1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4736.94 </a:t>
            </a:r>
            <a:r>
              <a:rPr lang="en-US" dirty="0"/>
              <a:t>Hz</a:t>
            </a:r>
          </a:p>
          <a:p>
            <a:r>
              <a:rPr lang="en-US" dirty="0" err="1"/>
              <a:t>GPeTA</a:t>
            </a:r>
            <a:r>
              <a:rPr lang="en-US" dirty="0"/>
              <a:t>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69.77 </a:t>
            </a:r>
            <a:r>
              <a:rPr lang="en-US" dirty="0"/>
              <a:t>Hz</a:t>
            </a:r>
            <a:endParaRPr lang="en-KR" dirty="0"/>
          </a:p>
        </p:txBody>
      </p:sp>
      <p:pic>
        <p:nvPicPr>
          <p:cNvPr id="6" name="Picture 5" descr="A group of blue lines with white text&#10;&#10;AI-generated content may be incorrect.">
            <a:extLst>
              <a:ext uri="{FF2B5EF4-FFF2-40B4-BE49-F238E27FC236}">
                <a16:creationId xmlns:a16="http://schemas.microsoft.com/office/drawing/2014/main" id="{5CDF16E1-CDEA-DEF6-8299-2DB7E286C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226997"/>
            <a:ext cx="7772400" cy="635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37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433C3-B1FB-BD88-10B0-56C25CE5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946D6F-71BA-077F-84AC-DBB87AAEBAD8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5FDFF56-8F46-A3BF-F683-53131EAD65C6}"/>
              </a:ext>
            </a:extLst>
          </p:cNvPr>
          <p:cNvSpPr txBox="1"/>
          <p:nvPr/>
        </p:nvSpPr>
        <p:spPr>
          <a:xfrm>
            <a:off x="259666" y="9014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Helvetica Neue" panose="02000503000000020004" pitchFamily="2" charset="0"/>
              </a:rPr>
              <a:t>U </a:t>
            </a:r>
            <a:r>
              <a:rPr lang="ko-KR" altLang="en-US" dirty="0">
                <a:latin typeface="Helvetica Neue" panose="02000503000000020004" pitchFamily="2" charset="0"/>
              </a:rPr>
              <a:t>수식 수정</a:t>
            </a:r>
            <a:r>
              <a:rPr lang="en-US" altLang="ko-KR" dirty="0">
                <a:latin typeface="Helvetica Neue" panose="02000503000000020004" pitchFamily="2" charset="0"/>
              </a:rPr>
              <a:t>,</a:t>
            </a:r>
            <a:r>
              <a:rPr lang="ko-KR" altLang="en-US" dirty="0"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latin typeface="Helvetica Neue" panose="02000503000000020004" pitchFamily="2" charset="0"/>
              </a:rPr>
              <a:t>w </a:t>
            </a:r>
            <a:r>
              <a:rPr lang="ko-KR" altLang="en-US" dirty="0">
                <a:latin typeface="Helvetica Neue" panose="02000503000000020004" pitchFamily="2" charset="0"/>
              </a:rPr>
              <a:t>수정</a:t>
            </a:r>
            <a:endParaRPr lang="en-US" altLang="ko-KR" dirty="0">
              <a:latin typeface="Helvetica Neue" panose="02000503000000020004" pitchFamily="2" charset="0"/>
            </a:endParaRPr>
          </a:p>
          <a:p>
            <a:r>
              <a:rPr lang="en-US" dirty="0" err="1">
                <a:effectLst/>
                <a:latin typeface="Helvetica Neue" panose="02000503000000020004" pitchFamily="2" charset="0"/>
              </a:rPr>
              <a:t>Fsn</a:t>
            </a:r>
            <a:r>
              <a:rPr lang="en-US" dirty="0">
                <a:effectLst/>
                <a:latin typeface="Helvetica Neue" panose="02000503000000020004" pitchFamily="2" charset="0"/>
              </a:rPr>
              <a:t> weight 1.2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로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통일</a:t>
            </a:r>
            <a:endParaRPr lang="ko-KR" alt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2C8FCB-FC84-A1D9-354A-91CD70775F68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E05EDD-47BC-9B7A-4363-423068455702}"/>
              </a:ext>
            </a:extLst>
          </p:cNvPr>
          <p:cNvSpPr txBox="1"/>
          <p:nvPr/>
        </p:nvSpPr>
        <p:spPr>
          <a:xfrm>
            <a:off x="-147484" y="35276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FSN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3.80 </a:t>
            </a:r>
            <a:r>
              <a:rPr lang="en-US" dirty="0"/>
              <a:t>Hz</a:t>
            </a:r>
          </a:p>
          <a:p>
            <a:r>
              <a:rPr lang="en-US" dirty="0"/>
              <a:t>MSND1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736.27 </a:t>
            </a:r>
            <a:r>
              <a:rPr lang="en-US" dirty="0"/>
              <a:t>Hz</a:t>
            </a:r>
          </a:p>
          <a:p>
            <a:r>
              <a:rPr lang="en-US" dirty="0"/>
              <a:t>MSND2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735.33 </a:t>
            </a:r>
            <a:r>
              <a:rPr lang="en-US" dirty="0"/>
              <a:t>Hz</a:t>
            </a:r>
          </a:p>
          <a:p>
            <a:r>
              <a:rPr lang="en-US" dirty="0"/>
              <a:t>STN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139.42 </a:t>
            </a:r>
            <a:r>
              <a:rPr lang="en-US" dirty="0"/>
              <a:t>Hz</a:t>
            </a:r>
          </a:p>
          <a:p>
            <a:r>
              <a:rPr lang="en-US" dirty="0"/>
              <a:t>GPeT1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482.58 </a:t>
            </a:r>
            <a:r>
              <a:rPr lang="en-US" dirty="0"/>
              <a:t>Hz</a:t>
            </a:r>
          </a:p>
          <a:p>
            <a:r>
              <a:rPr lang="en-US" dirty="0" err="1"/>
              <a:t>GPeTA</a:t>
            </a:r>
            <a:r>
              <a:rPr lang="en-US" dirty="0"/>
              <a:t>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44.13 </a:t>
            </a:r>
            <a:r>
              <a:rPr lang="en-US" dirty="0"/>
              <a:t>Hz</a:t>
            </a:r>
            <a:endParaRPr lang="en-KR" dirty="0"/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801FC9BB-5210-A398-1E1E-F0422EA62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666" y="538938"/>
            <a:ext cx="7772400" cy="526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97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24B0A-AF0F-253B-9094-EE0513D2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EBC4D4-5911-51C5-A022-A03AE3C9E670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4D2B76-8432-E115-E920-E45121C15E66}"/>
              </a:ext>
            </a:extLst>
          </p:cNvPr>
          <p:cNvSpPr txBox="1"/>
          <p:nvPr/>
        </p:nvSpPr>
        <p:spPr>
          <a:xfrm>
            <a:off x="273222" y="1100487"/>
            <a:ext cx="42791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 err="1">
                <a:effectLst/>
                <a:latin typeface="Helvetica Neue" panose="02000503000000020004" pitchFamily="2" charset="0"/>
              </a:rPr>
              <a:t>발화율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식 수정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get_receptor_params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나머지 수정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Weight 1.2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AB5A5-0DB1-19D8-DB03-22FE99E9C4D7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639CB-A711-7695-5490-63FBA5653C6C}"/>
              </a:ext>
            </a:extLst>
          </p:cNvPr>
          <p:cNvSpPr txBox="1"/>
          <p:nvPr/>
        </p:nvSpPr>
        <p:spPr>
          <a:xfrm>
            <a:off x="-147484" y="3527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FSN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0.13 </a:t>
            </a:r>
            <a:r>
              <a:rPr lang="en-US" dirty="0"/>
              <a:t>Hz</a:t>
            </a:r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9EBCD-57A6-876C-2FC7-A02EEB813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7925"/>
            <a:ext cx="7772400" cy="4049920"/>
          </a:xfrm>
          <a:prstGeom prst="rect">
            <a:avLst/>
          </a:prstGeom>
        </p:spPr>
      </p:pic>
      <p:pic>
        <p:nvPicPr>
          <p:cNvPr id="8" name="Picture 7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89D5CD77-889A-D756-4E6B-48EE1B670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067" y="0"/>
            <a:ext cx="7772400" cy="574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79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2B34E-FAE0-44FB-10CC-2A57DF12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BB4927-62F2-A507-FFBE-43CF8445414D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F92B54B-E9F2-A845-827F-BE0E820F3A2C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FDF19E-2CDC-86E2-5027-CBA7B26BDF49}"/>
              </a:ext>
            </a:extLst>
          </p:cNvPr>
          <p:cNvSpPr txBox="1"/>
          <p:nvPr/>
        </p:nvSpPr>
        <p:spPr>
          <a:xfrm>
            <a:off x="-147484" y="3527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FSN </a:t>
            </a:r>
            <a:r>
              <a:rPr lang="ko-KR" altLang="en-US" dirty="0"/>
              <a:t>평균 </a:t>
            </a:r>
            <a:r>
              <a:rPr lang="ko-KR" altLang="en-US" dirty="0" err="1"/>
              <a:t>발화율</a:t>
            </a:r>
            <a:r>
              <a:rPr lang="en-US" altLang="ko-KR" dirty="0"/>
              <a:t>: 0.17 </a:t>
            </a:r>
            <a:r>
              <a:rPr lang="en-US" dirty="0"/>
              <a:t>Hz</a:t>
            </a:r>
            <a:endParaRPr lang="en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072ECA-1403-6124-57AA-2907A4F23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429" y="1901630"/>
            <a:ext cx="7772400" cy="399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25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852D-FF7B-43AF-A4A4-70842D56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7086E1E-318A-7A00-7A87-C49D2712153B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27E9E3D-D233-D4C7-F7F7-E16BC267579D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54196-34D6-CC8D-99E4-0C70191610C6}"/>
              </a:ext>
            </a:extLst>
          </p:cNvPr>
          <p:cNvSpPr txBox="1"/>
          <p:nvPr/>
        </p:nvSpPr>
        <p:spPr>
          <a:xfrm>
            <a:off x="-147484" y="3527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Input </a:t>
            </a:r>
            <a:r>
              <a:rPr lang="ko-KR" altLang="en-US" dirty="0"/>
              <a:t>추가한 경우</a:t>
            </a:r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0DFE8-F006-83D3-24E1-51CF64FD9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917" y="1358986"/>
            <a:ext cx="7772400" cy="414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68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A876-EBAC-681F-51D9-208A24CB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783DB0-9905-6DC4-1E09-53DD845DD5A4}"/>
              </a:ext>
            </a:extLst>
          </p:cNvPr>
          <p:cNvCxnSpPr>
            <a:cxnSpLocks/>
          </p:cNvCxnSpPr>
          <p:nvPr/>
        </p:nvCxnSpPr>
        <p:spPr>
          <a:xfrm>
            <a:off x="0" y="743020"/>
            <a:ext cx="875438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1391C88-165B-A3D0-30AB-0D91D8184E20}"/>
              </a:ext>
            </a:extLst>
          </p:cNvPr>
          <p:cNvSpPr txBox="1"/>
          <p:nvPr/>
        </p:nvSpPr>
        <p:spPr>
          <a:xfrm>
            <a:off x="4109884" y="54274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5E774-9B50-D995-D81B-A92EEA6161E8}"/>
              </a:ext>
            </a:extLst>
          </p:cNvPr>
          <p:cNvSpPr txBox="1"/>
          <p:nvPr/>
        </p:nvSpPr>
        <p:spPr>
          <a:xfrm>
            <a:off x="476984" y="59303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Input </a:t>
            </a:r>
            <a:r>
              <a:rPr lang="ko-KR" altLang="en-US" dirty="0"/>
              <a:t>추가한 하고 </a:t>
            </a:r>
            <a:r>
              <a:rPr lang="en-US" altLang="ko-KR" dirty="0"/>
              <a:t>p</a:t>
            </a:r>
            <a:r>
              <a:rPr lang="ko-KR" altLang="en-US" dirty="0" err="1"/>
              <a:t>를</a:t>
            </a:r>
            <a:r>
              <a:rPr lang="ko-KR" altLang="en-US" dirty="0"/>
              <a:t> 향상</a:t>
            </a:r>
            <a:endParaRPr lang="en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E0BEC7-99EC-A8BC-BCC3-2A37275CB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374928"/>
            <a:ext cx="7772400" cy="410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24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11042</TotalTime>
  <Words>1045</Words>
  <Application>Microsoft Macintosh PowerPoint</Application>
  <PresentationFormat>Widescreen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Apple SD Gothic Neo</vt:lpstr>
      <vt:lpstr>NdjwfhAdvTTb8864ccf.B</vt:lpstr>
      <vt:lpstr>Aptos</vt:lpstr>
      <vt:lpstr>Aptos Display</vt:lpstr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techzt@korea.ac.kr</dc:creator>
  <cp:lastModifiedBy>techzt@korea.ac.kr</cp:lastModifiedBy>
  <cp:revision>159</cp:revision>
  <dcterms:created xsi:type="dcterms:W3CDTF">2024-04-02T06:28:29Z</dcterms:created>
  <dcterms:modified xsi:type="dcterms:W3CDTF">2025-03-23T18:36:41Z</dcterms:modified>
</cp:coreProperties>
</file>